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252960" cy="7086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34440" y="457200"/>
            <a:ext cx="9921240" cy="1965960"/>
          </a:xfrm>
          <a:prstGeom prst="roundRect">
            <a:avLst>
              <a:gd name="adj" fmla="val 6976"/>
            </a:avLst>
          </a:prstGeom>
          <a:solidFill>
            <a:srgbClr val="F5F0F8"/>
          </a:solidFill>
          <a:ln w="10160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44168" y="521207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1050" b="1" i="0">
                <a:solidFill>
                  <a:srgbClr val="9673A6"/>
                </a:solidFill>
                <a:latin typeface="Times New Roman"/>
                <a:ea typeface="宋体"/>
              </a:rPr>
              <a:t>信任估计层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91088" y="521207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800" b="0" i="0">
                <a:solidFill>
                  <a:srgbClr val="9673A6"/>
                </a:solidFill>
                <a:latin typeface="Times New Roman"/>
                <a:ea typeface="宋体"/>
              </a:rPr>
              <a:t>慢时标 0.5–2 Hz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2651760"/>
            <a:ext cx="9921240" cy="2286000"/>
          </a:xfrm>
          <a:prstGeom prst="roundRect">
            <a:avLst>
              <a:gd name="adj" fmla="val 6000"/>
            </a:avLst>
          </a:prstGeom>
          <a:solidFill>
            <a:srgbClr val="F0F6FC"/>
          </a:solidFill>
          <a:ln w="1016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44168" y="2715768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1050" b="1" i="0">
                <a:solidFill>
                  <a:srgbClr val="6C8EBF"/>
                </a:solidFill>
                <a:latin typeface="Times New Roman"/>
                <a:ea typeface="宋体"/>
              </a:rPr>
              <a:t>不确定性感知 NMPC 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2715768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800" b="0" i="0">
                <a:solidFill>
                  <a:srgbClr val="6C8EBF"/>
                </a:solidFill>
                <a:latin typeface="Times New Roman"/>
                <a:ea typeface="宋体"/>
              </a:rPr>
              <a:t>50 Hz 主环 / 1–5 Hz 慢环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5257800"/>
            <a:ext cx="9921240" cy="1554480"/>
          </a:xfrm>
          <a:prstGeom prst="roundRect">
            <a:avLst>
              <a:gd name="adj" fmla="val 8823"/>
            </a:avLst>
          </a:prstGeom>
          <a:solidFill>
            <a:srgbClr val="FCF2F1"/>
          </a:solidFill>
          <a:ln w="10160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5321808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1050" b="1" i="0">
                <a:solidFill>
                  <a:srgbClr val="B85450"/>
                </a:solidFill>
                <a:latin typeface="Times New Roman"/>
                <a:ea typeface="宋体"/>
              </a:rPr>
              <a:t>物理层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91088" y="5321808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800" b="0" i="0">
                <a:solidFill>
                  <a:srgbClr val="B85450"/>
                </a:solidFill>
                <a:latin typeface="Times New Roman"/>
                <a:ea typeface="宋体"/>
              </a:rPr>
              <a:t>实时</a:t>
            </a:r>
          </a:p>
        </p:txBody>
      </p:sp>
      <p:sp>
        <p:nvSpPr>
          <p:cNvPr id="11" name="Freeform 10"/>
          <p:cNvSpPr/>
          <p:nvPr/>
        </p:nvSpPr>
        <p:spPr>
          <a:xfrm>
            <a:off x="8321040" y="6007608"/>
            <a:ext cx="640080" cy="0"/>
          </a:xfrm>
          <a:custGeom>
            <a:avLst/>
            <a:gdLst/>
            <a:ahLst/>
            <a:cxnLst/>
            <a:rect l="l" t="t" r="r" b="b"/>
            <a:pathLst>
              <a:path w="640080" h="0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279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321040" y="6153912"/>
            <a:ext cx="640080" cy="0"/>
          </a:xfrm>
          <a:custGeom>
            <a:avLst/>
            <a:gdLst/>
            <a:ahLst/>
            <a:cxnLst/>
            <a:rect l="l" t="t" r="r" b="b"/>
            <a:pathLst>
              <a:path w="640080" h="0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279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3566160" y="1691639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 h="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20320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943600" y="1691639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 h="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20320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321040" y="1691639"/>
            <a:ext cx="594360" cy="0"/>
          </a:xfrm>
          <a:custGeom>
            <a:avLst/>
            <a:gdLst/>
            <a:ahLst/>
            <a:cxnLst/>
            <a:rect l="l" t="t" r="r" b="b"/>
            <a:pathLst>
              <a:path w="594360" h="0">
                <a:moveTo>
                  <a:pt x="594360" y="0"/>
                </a:moveTo>
                <a:lnTo>
                  <a:pt x="0" y="0"/>
                </a:lnTo>
              </a:path>
            </a:pathLst>
          </a:custGeom>
          <a:noFill/>
          <a:ln w="20320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651760" y="8869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9144000" y="0"/>
                </a:moveTo>
                <a:lnTo>
                  <a:pt x="0" y="0"/>
                </a:lnTo>
              </a:path>
            </a:pathLst>
          </a:custGeom>
          <a:noFill/>
          <a:ln w="203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51760" y="886967"/>
            <a:ext cx="0" cy="393193"/>
          </a:xfrm>
          <a:custGeom>
            <a:avLst/>
            <a:gdLst/>
            <a:ahLst/>
            <a:cxnLst/>
            <a:rect l="l" t="t" r="r" b="b"/>
            <a:pathLst>
              <a:path w="0" h="393193">
                <a:moveTo>
                  <a:pt x="0" y="0"/>
                </a:moveTo>
                <a:lnTo>
                  <a:pt x="0" y="393193"/>
                </a:lnTo>
              </a:path>
            </a:pathLst>
          </a:custGeom>
          <a:noFill/>
          <a:ln w="20320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5029200" y="886967"/>
            <a:ext cx="0" cy="393193"/>
          </a:xfrm>
          <a:custGeom>
            <a:avLst/>
            <a:gdLst/>
            <a:ahLst/>
            <a:cxnLst/>
            <a:rect l="l" t="t" r="r" b="b"/>
            <a:pathLst>
              <a:path w="0" h="393193">
                <a:moveTo>
                  <a:pt x="0" y="0"/>
                </a:moveTo>
                <a:lnTo>
                  <a:pt x="0" y="393193"/>
                </a:lnTo>
              </a:path>
            </a:pathLst>
          </a:custGeom>
          <a:noFill/>
          <a:ln w="20320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7406640" y="886967"/>
            <a:ext cx="0" cy="393193"/>
          </a:xfrm>
          <a:custGeom>
            <a:avLst/>
            <a:gdLst/>
            <a:ahLst/>
            <a:cxnLst/>
            <a:rect l="l" t="t" r="r" b="b"/>
            <a:pathLst>
              <a:path w="0" h="393193">
                <a:moveTo>
                  <a:pt x="0" y="0"/>
                </a:moveTo>
                <a:lnTo>
                  <a:pt x="0" y="393193"/>
                </a:lnTo>
              </a:path>
            </a:pathLst>
          </a:custGeom>
          <a:noFill/>
          <a:ln w="20320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00400" y="3429000"/>
            <a:ext cx="548639" cy="0"/>
          </a:xfrm>
          <a:custGeom>
            <a:avLst/>
            <a:gdLst/>
            <a:ahLst/>
            <a:cxnLst/>
            <a:rect l="l" t="t" r="r" b="b"/>
            <a:pathLst>
              <a:path w="548639" h="0">
                <a:moveTo>
                  <a:pt x="0" y="0"/>
                </a:moveTo>
                <a:lnTo>
                  <a:pt x="548639" y="0"/>
                </a:lnTo>
              </a:path>
            </a:pathLst>
          </a:custGeom>
          <a:noFill/>
          <a:ln w="20320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5577840" y="3429000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 h="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20320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60120" y="3410712"/>
            <a:ext cx="411480" cy="0"/>
          </a:xfrm>
          <a:custGeom>
            <a:avLst/>
            <a:gdLst/>
            <a:ahLst/>
            <a:cxnLst/>
            <a:rect l="l" t="t" r="r" b="b"/>
            <a:pathLst>
              <a:path w="411480" h="0">
                <a:moveTo>
                  <a:pt x="0" y="0"/>
                </a:moveTo>
                <a:lnTo>
                  <a:pt x="411480" y="0"/>
                </a:lnTo>
              </a:path>
            </a:pathLst>
          </a:custGeom>
          <a:noFill/>
          <a:ln w="20320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7086600" y="6583680"/>
            <a:ext cx="0" cy="411480"/>
          </a:xfrm>
          <a:custGeom>
            <a:avLst/>
            <a:gdLst/>
            <a:ahLst/>
            <a:cxnLst/>
            <a:rect l="l" t="t" r="r" b="b"/>
            <a:pathLst>
              <a:path w="0" h="411480">
                <a:moveTo>
                  <a:pt x="0" y="0"/>
                </a:moveTo>
                <a:lnTo>
                  <a:pt x="0" y="411480"/>
                </a:lnTo>
              </a:path>
            </a:pathLst>
          </a:custGeom>
          <a:noFill/>
          <a:ln w="20320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5870448" y="3566160"/>
            <a:ext cx="393192" cy="1965960"/>
          </a:xfrm>
          <a:custGeom>
            <a:avLst/>
            <a:gdLst/>
            <a:ahLst/>
            <a:cxnLst/>
            <a:rect l="l" t="t" r="r" b="b"/>
            <a:pathLst>
              <a:path w="393192" h="1965960">
                <a:moveTo>
                  <a:pt x="256032" y="0"/>
                </a:moveTo>
                <a:lnTo>
                  <a:pt x="0" y="0"/>
                </a:lnTo>
                <a:lnTo>
                  <a:pt x="0" y="1554480"/>
                </a:lnTo>
                <a:lnTo>
                  <a:pt x="393192" y="1554480"/>
                </a:lnTo>
                <a:lnTo>
                  <a:pt x="393192" y="1965960"/>
                </a:lnTo>
              </a:path>
            </a:pathLst>
          </a:custGeom>
          <a:noFill/>
          <a:ln w="20320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7040880" y="4754880"/>
            <a:ext cx="2926080" cy="777240"/>
          </a:xfrm>
          <a:custGeom>
            <a:avLst/>
            <a:gdLst/>
            <a:ahLst/>
            <a:cxnLst/>
            <a:rect l="l" t="t" r="r" b="b"/>
            <a:pathLst>
              <a:path w="2926080" h="777240">
                <a:moveTo>
                  <a:pt x="0" y="0"/>
                </a:moveTo>
                <a:lnTo>
                  <a:pt x="0" y="301751"/>
                </a:lnTo>
                <a:lnTo>
                  <a:pt x="2926080" y="301751"/>
                </a:lnTo>
                <a:lnTo>
                  <a:pt x="2926080" y="777240"/>
                </a:lnTo>
              </a:path>
            </a:pathLst>
          </a:custGeom>
          <a:noFill/>
          <a:ln w="20320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078992" y="3630168"/>
            <a:ext cx="4773168" cy="2679192"/>
          </a:xfrm>
          <a:custGeom>
            <a:avLst/>
            <a:gdLst/>
            <a:ahLst/>
            <a:cxnLst/>
            <a:rect l="l" t="t" r="r" b="b"/>
            <a:pathLst>
              <a:path w="4773168" h="2679192">
                <a:moveTo>
                  <a:pt x="4773168" y="2679192"/>
                </a:moveTo>
                <a:lnTo>
                  <a:pt x="0" y="2679192"/>
                </a:lnTo>
                <a:lnTo>
                  <a:pt x="0" y="0"/>
                </a:lnTo>
                <a:lnTo>
                  <a:pt x="292608" y="0"/>
                </a:lnTo>
              </a:path>
            </a:pathLst>
          </a:custGeom>
          <a:noFill/>
          <a:ln w="20320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11064240" y="886967"/>
            <a:ext cx="731520" cy="5422393"/>
          </a:xfrm>
          <a:custGeom>
            <a:avLst/>
            <a:gdLst/>
            <a:ahLst/>
            <a:cxnLst/>
            <a:rect l="l" t="t" r="r" b="b"/>
            <a:pathLst>
              <a:path w="731520" h="5422393">
                <a:moveTo>
                  <a:pt x="0" y="5422393"/>
                </a:moveTo>
                <a:lnTo>
                  <a:pt x="731520" y="5422393"/>
                </a:lnTo>
                <a:lnTo>
                  <a:pt x="731520" y="0"/>
                </a:lnTo>
              </a:path>
            </a:pathLst>
          </a:custGeom>
          <a:noFill/>
          <a:ln w="203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2468880" y="2103120"/>
            <a:ext cx="0" cy="457200"/>
          </a:xfrm>
          <a:custGeom>
            <a:avLst/>
            <a:gdLst/>
            <a:ahLst/>
            <a:cxnLst/>
            <a:rect l="l" t="t" r="r" b="b"/>
            <a:pathLst>
              <a:path w="0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17780">
            <a:solidFill>
              <a:srgbClr val="9673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5029200" y="2103120"/>
            <a:ext cx="0" cy="457200"/>
          </a:xfrm>
          <a:custGeom>
            <a:avLst/>
            <a:gdLst/>
            <a:ahLst/>
            <a:cxnLst/>
            <a:rect l="l" t="t" r="r" b="b"/>
            <a:pathLst>
              <a:path w="0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17780">
            <a:solidFill>
              <a:srgbClr val="9673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7223760" y="2103120"/>
            <a:ext cx="0" cy="457200"/>
          </a:xfrm>
          <a:custGeom>
            <a:avLst/>
            <a:gdLst/>
            <a:ahLst/>
            <a:cxnLst/>
            <a:rect l="l" t="t" r="r" b="b"/>
            <a:pathLst>
              <a:path w="0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17780">
            <a:solidFill>
              <a:srgbClr val="9673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2468880" y="2560320"/>
            <a:ext cx="5623560" cy="0"/>
          </a:xfrm>
          <a:custGeom>
            <a:avLst/>
            <a:gdLst/>
            <a:ahLst/>
            <a:cxnLst/>
            <a:rect l="l" t="t" r="r" b="b"/>
            <a:pathLst>
              <a:path w="5623560" h="0">
                <a:moveTo>
                  <a:pt x="0" y="0"/>
                </a:moveTo>
                <a:lnTo>
                  <a:pt x="5623560" y="0"/>
                </a:lnTo>
              </a:path>
            </a:pathLst>
          </a:custGeom>
          <a:noFill/>
          <a:ln w="17780">
            <a:solidFill>
              <a:srgbClr val="9673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2743200" y="2560320"/>
            <a:ext cx="0" cy="457200"/>
          </a:xfrm>
          <a:custGeom>
            <a:avLst/>
            <a:gdLst/>
            <a:ahLst/>
            <a:cxnLst/>
            <a:rect l="l" t="t" r="r" b="b"/>
            <a:pathLst>
              <a:path w="0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17780">
            <a:solidFill>
              <a:srgbClr val="9673A6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663440" y="2560320"/>
            <a:ext cx="0" cy="457200"/>
          </a:xfrm>
          <a:custGeom>
            <a:avLst/>
            <a:gdLst/>
            <a:ahLst/>
            <a:cxnLst/>
            <a:rect l="l" t="t" r="r" b="b"/>
            <a:pathLst>
              <a:path w="0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17780">
            <a:solidFill>
              <a:srgbClr val="9673A6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3566160" y="2560320"/>
            <a:ext cx="0" cy="1399032"/>
          </a:xfrm>
          <a:custGeom>
            <a:avLst/>
            <a:gdLst/>
            <a:ahLst/>
            <a:cxnLst/>
            <a:rect l="l" t="t" r="r" b="b"/>
            <a:pathLst>
              <a:path w="0" h="1399032">
                <a:moveTo>
                  <a:pt x="0" y="0"/>
                </a:moveTo>
                <a:lnTo>
                  <a:pt x="0" y="1399032"/>
                </a:lnTo>
              </a:path>
            </a:pathLst>
          </a:custGeom>
          <a:noFill/>
          <a:ln w="17780">
            <a:solidFill>
              <a:srgbClr val="9673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743200" y="3959352"/>
            <a:ext cx="822960" cy="109728"/>
          </a:xfrm>
          <a:custGeom>
            <a:avLst/>
            <a:gdLst/>
            <a:ahLst/>
            <a:cxnLst/>
            <a:rect l="l" t="t" r="r" b="b"/>
            <a:pathLst>
              <a:path w="822960" h="109728">
                <a:moveTo>
                  <a:pt x="822960" y="0"/>
                </a:moveTo>
                <a:lnTo>
                  <a:pt x="0" y="0"/>
                </a:lnTo>
                <a:lnTo>
                  <a:pt x="0" y="109728"/>
                </a:lnTo>
              </a:path>
            </a:pathLst>
          </a:custGeom>
          <a:noFill/>
          <a:ln w="17780">
            <a:solidFill>
              <a:srgbClr val="9673A6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3566160" y="3959352"/>
            <a:ext cx="640080" cy="109728"/>
          </a:xfrm>
          <a:custGeom>
            <a:avLst/>
            <a:gdLst/>
            <a:ahLst/>
            <a:cxnLst/>
            <a:rect l="l" t="t" r="r" b="b"/>
            <a:pathLst>
              <a:path w="640080" h="109728">
                <a:moveTo>
                  <a:pt x="0" y="0"/>
                </a:moveTo>
                <a:lnTo>
                  <a:pt x="640080" y="0"/>
                </a:lnTo>
                <a:lnTo>
                  <a:pt x="640080" y="109728"/>
                </a:lnTo>
              </a:path>
            </a:pathLst>
          </a:custGeom>
          <a:noFill/>
          <a:ln w="17780">
            <a:solidFill>
              <a:srgbClr val="9673A6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7955279" y="2560320"/>
            <a:ext cx="137161" cy="1856232"/>
          </a:xfrm>
          <a:custGeom>
            <a:avLst/>
            <a:gdLst/>
            <a:ahLst/>
            <a:cxnLst/>
            <a:rect l="l" t="t" r="r" b="b"/>
            <a:pathLst>
              <a:path w="137161" h="1856232">
                <a:moveTo>
                  <a:pt x="137161" y="0"/>
                </a:moveTo>
                <a:lnTo>
                  <a:pt x="137161" y="1856232"/>
                </a:lnTo>
                <a:lnTo>
                  <a:pt x="0" y="1856232"/>
                </a:lnTo>
              </a:path>
            </a:pathLst>
          </a:custGeom>
          <a:noFill/>
          <a:ln w="17780">
            <a:solidFill>
              <a:srgbClr val="9673A6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286000" y="3840480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228600"/>
                </a:moveTo>
                <a:lnTo>
                  <a:pt x="0" y="0"/>
                </a:lnTo>
              </a:path>
            </a:pathLst>
          </a:custGeom>
          <a:noFill/>
          <a:ln w="17780">
            <a:solidFill>
              <a:srgbClr val="9673A6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663440" y="3840480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228600"/>
                </a:moveTo>
                <a:lnTo>
                  <a:pt x="0" y="0"/>
                </a:lnTo>
              </a:path>
            </a:pathLst>
          </a:custGeom>
          <a:noFill/>
          <a:ln w="17780">
            <a:solidFill>
              <a:srgbClr val="9673A6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737360" y="1280160"/>
            <a:ext cx="1828800" cy="822960"/>
          </a:xfrm>
          <a:prstGeom prst="roundRect">
            <a:avLst>
              <a:gd name="adj" fmla="val 8888"/>
            </a:avLst>
          </a:prstGeom>
          <a:solidFill>
            <a:srgbClr val="E1D5E7"/>
          </a:solidFill>
          <a:ln w="15240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1" i="0">
                <a:solidFill>
                  <a:srgbClr val="1A1A1A"/>
                </a:solidFill>
                <a:latin typeface="Times New Roman"/>
                <a:ea typeface="宋体"/>
              </a:rPr>
              <a:t>参数后验辨识</a:t>
            </a:r>
          </a:p>
          <a:p>
            <a:pPr algn="ctr"/>
            <a:r>
              <a:rPr sz="800" b="0" i="1">
                <a:solidFill>
                  <a:srgbClr val="333333"/>
                </a:solidFill>
                <a:latin typeface="Times New Roman"/>
                <a:ea typeface="宋体"/>
              </a:rPr>
              <a:t>ψ</a:t>
            </a:r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 共轭更新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6432" y="1929383"/>
            <a:ext cx="54864" cy="14630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680" b="0" i="0">
                <a:solidFill>
                  <a:srgbClr val="777777"/>
                </a:solidFill>
                <a:latin typeface="Times New Roman"/>
                <a:ea typeface="宋体"/>
              </a:rPr>
              <a:t>式(3-1)(3-2)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0" y="1280160"/>
            <a:ext cx="1828800" cy="822960"/>
          </a:xfrm>
          <a:prstGeom prst="roundRect">
            <a:avLst>
              <a:gd name="adj" fmla="val 8888"/>
            </a:avLst>
          </a:prstGeom>
          <a:solidFill>
            <a:srgbClr val="E1D5E7"/>
          </a:solidFill>
          <a:ln w="15240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1" i="0">
                <a:solidFill>
                  <a:srgbClr val="1A1A1A"/>
                </a:solidFill>
                <a:latin typeface="Times New Roman"/>
                <a:ea typeface="宋体"/>
              </a:rPr>
              <a:t>模型置信度滤波</a:t>
            </a:r>
          </a:p>
          <a:p>
            <a:pPr algn="ctr"/>
            <a:r>
              <a:rPr sz="800" b="0" i="1">
                <a:solidFill>
                  <a:srgbClr val="333333"/>
                </a:solidFill>
                <a:latin typeface="Times New Roman"/>
                <a:ea typeface="宋体"/>
              </a:rPr>
              <a:t>b</a:t>
            </a:r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(</a:t>
            </a:r>
            <a:r>
              <a:rPr sz="800" b="0" i="1">
                <a:solidFill>
                  <a:srgbClr val="333333"/>
                </a:solidFill>
                <a:latin typeface="Times New Roman"/>
                <a:ea typeface="宋体"/>
              </a:rPr>
              <a:t>β</a:t>
            </a:r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) 遗忘HMM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3872" y="1929383"/>
            <a:ext cx="54864" cy="14630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680" b="0" i="0">
                <a:solidFill>
                  <a:srgbClr val="777777"/>
                </a:solidFill>
                <a:latin typeface="Times New Roman"/>
                <a:ea typeface="宋体"/>
              </a:rPr>
              <a:t>式(3-3)(3-4)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1280160"/>
            <a:ext cx="1828800" cy="822960"/>
          </a:xfrm>
          <a:prstGeom prst="roundRect">
            <a:avLst>
              <a:gd name="adj" fmla="val 8888"/>
            </a:avLst>
          </a:prstGeom>
          <a:solidFill>
            <a:srgbClr val="E1D5E7"/>
          </a:solidFill>
          <a:ln w="15240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1" i="0">
                <a:solidFill>
                  <a:srgbClr val="1A1A1A"/>
                </a:solidFill>
                <a:latin typeface="Times New Roman"/>
                <a:ea typeface="宋体"/>
              </a:rPr>
              <a:t>保形误差界校准</a:t>
            </a:r>
          </a:p>
          <a:p>
            <a:pPr algn="ctr"/>
            <a:r>
              <a:rPr sz="800" b="0" i="1">
                <a:solidFill>
                  <a:srgbClr val="333333"/>
                </a:solidFill>
                <a:latin typeface="Cambria Math"/>
                <a:ea typeface="宋体"/>
              </a:rPr>
              <a:t>Δ̂</a:t>
            </a:r>
            <a:r>
              <a:rPr sz="624" b="0" i="1" baseline="-25000">
                <a:solidFill>
                  <a:srgbClr val="333333"/>
                </a:solidFill>
                <a:latin typeface="Times New Roman"/>
                <a:ea typeface="宋体"/>
              </a:rPr>
              <a:t>τ</a:t>
            </a:r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 分位数+ACI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1" y="1929383"/>
            <a:ext cx="54864" cy="14630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680" b="0" i="0">
                <a:solidFill>
                  <a:srgbClr val="777777"/>
                </a:solidFill>
                <a:latin typeface="Times New Roman"/>
                <a:ea typeface="宋体"/>
              </a:rPr>
              <a:t>式(3-6)(3-8)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71600" y="3017520"/>
            <a:ext cx="1828800" cy="822960"/>
          </a:xfrm>
          <a:prstGeom prst="roundRect">
            <a:avLst>
              <a:gd name="adj" fmla="val 8888"/>
            </a:avLst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1" i="0">
                <a:solidFill>
                  <a:srgbClr val="1A1A1A"/>
                </a:solidFill>
                <a:latin typeface="Times New Roman"/>
                <a:ea typeface="宋体"/>
              </a:rPr>
              <a:t>参考生成与收紧</a:t>
            </a:r>
          </a:p>
          <a:p>
            <a:pPr algn="ctr"/>
            <a:r>
              <a:rPr sz="800" b="0" i="1">
                <a:solidFill>
                  <a:srgbClr val="333333"/>
                </a:solidFill>
                <a:latin typeface="Times New Roman"/>
                <a:ea typeface="宋体"/>
              </a:rPr>
              <a:t>ε</a:t>
            </a:r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−</a:t>
            </a:r>
            <a:r>
              <a:rPr sz="800" b="0" i="1">
                <a:solidFill>
                  <a:srgbClr val="333333"/>
                </a:solidFill>
                <a:latin typeface="Times New Roman"/>
                <a:ea typeface="宋体"/>
              </a:rPr>
              <a:t>κ</a:t>
            </a:r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(</a:t>
            </a:r>
            <a:r>
              <a:rPr sz="800" b="0" i="1">
                <a:solidFill>
                  <a:srgbClr val="333333"/>
                </a:solidFill>
                <a:latin typeface="Times New Roman"/>
                <a:ea typeface="宋体"/>
              </a:rPr>
              <a:t>q</a:t>
            </a:r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)</a:t>
            </a:r>
            <a:r>
              <a:rPr sz="800" b="0" i="1">
                <a:solidFill>
                  <a:srgbClr val="333333"/>
                </a:solidFill>
                <a:latin typeface="Cambria Math"/>
                <a:ea typeface="宋体"/>
              </a:rPr>
              <a:t>Δ̂</a:t>
            </a:r>
            <a:r>
              <a:rPr sz="624" b="0" i="1" baseline="-25000">
                <a:solidFill>
                  <a:srgbClr val="333333"/>
                </a:solidFill>
                <a:latin typeface="Times New Roman"/>
                <a:ea typeface="宋体"/>
              </a:rPr>
              <a:t>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90672" y="3666744"/>
            <a:ext cx="54864" cy="14630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680" b="0" i="0">
                <a:solidFill>
                  <a:srgbClr val="777777"/>
                </a:solidFill>
                <a:latin typeface="Times New Roman"/>
                <a:ea typeface="宋体"/>
              </a:rPr>
              <a:t>式(4-1)(4-2)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749039" y="3017520"/>
            <a:ext cx="1828800" cy="822960"/>
          </a:xfrm>
          <a:prstGeom prst="roundRect">
            <a:avLst>
              <a:gd name="adj" fmla="val 8888"/>
            </a:avLst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1" i="0">
                <a:solidFill>
                  <a:srgbClr val="1A1A1A"/>
                </a:solidFill>
                <a:latin typeface="Times New Roman"/>
                <a:ea typeface="宋体"/>
              </a:rPr>
              <a:t>二阶 NMPC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时域 </a:t>
            </a:r>
            <a:r>
              <a:rPr sz="800" b="0" i="1">
                <a:solidFill>
                  <a:srgbClr val="333333"/>
                </a:solidFill>
                <a:latin typeface="Times New Roman"/>
                <a:ea typeface="宋体"/>
              </a:rPr>
              <a:t>N</a:t>
            </a:r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, 50 Hz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26480" y="3017520"/>
            <a:ext cx="1828800" cy="822960"/>
          </a:xfrm>
          <a:prstGeom prst="roundRect">
            <a:avLst>
              <a:gd name="adj" fmla="val 8888"/>
            </a:avLst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1" i="0">
                <a:solidFill>
                  <a:srgbClr val="1A1A1A"/>
                </a:solidFill>
                <a:latin typeface="Times New Roman"/>
                <a:ea typeface="宋体"/>
              </a:rPr>
              <a:t>命令逆变换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执行链反演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71600" y="4069080"/>
            <a:ext cx="1828800" cy="685800"/>
          </a:xfrm>
          <a:prstGeom prst="roundRect">
            <a:avLst>
              <a:gd name="adj" fmla="val 10666"/>
            </a:avLst>
          </a:prstGeom>
          <a:solidFill>
            <a:srgbClr val="FFF2CC"/>
          </a:solidFill>
          <a:ln w="15240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1" i="0">
                <a:solidFill>
                  <a:srgbClr val="1A1A1A"/>
                </a:solidFill>
                <a:latin typeface="Times New Roman"/>
                <a:ea typeface="宋体"/>
              </a:rPr>
              <a:t>可行性退化阶梯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降速→收臂→抬笔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90672" y="4581144"/>
            <a:ext cx="54864" cy="14630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680" b="0" i="0">
                <a:solidFill>
                  <a:srgbClr val="777777"/>
                </a:solidFill>
                <a:latin typeface="Times New Roman"/>
                <a:ea typeface="宋体"/>
              </a:rPr>
              <a:t>§4.4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49039" y="4069080"/>
            <a:ext cx="1828800" cy="685800"/>
          </a:xfrm>
          <a:prstGeom prst="roundRect">
            <a:avLst>
              <a:gd name="adj" fmla="val 10666"/>
            </a:avLst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1" i="0">
                <a:solidFill>
                  <a:srgbClr val="1A1A1A"/>
                </a:solidFill>
                <a:latin typeface="Times New Roman"/>
                <a:ea typeface="宋体"/>
              </a:rPr>
              <a:t>零空间姿态调度</a:t>
            </a:r>
          </a:p>
          <a:p>
            <a:pPr algn="ctr"/>
            <a:r>
              <a:rPr sz="800" b="0" i="1">
                <a:solidFill>
                  <a:srgbClr val="333333"/>
                </a:solidFill>
                <a:latin typeface="Times New Roman"/>
                <a:ea typeface="宋体"/>
              </a:rPr>
              <a:t>q</a:t>
            </a:r>
            <a:r>
              <a:rPr sz="624" b="0" i="0" baseline="-25000">
                <a:solidFill>
                  <a:srgbClr val="333333"/>
                </a:solidFill>
                <a:latin typeface="Times New Roman"/>
                <a:ea typeface="宋体"/>
              </a:rPr>
              <a:t>ref</a:t>
            </a:r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(</a:t>
            </a:r>
            <a:r>
              <a:rPr sz="800" b="0" i="1">
                <a:solidFill>
                  <a:srgbClr val="333333"/>
                </a:solidFill>
                <a:latin typeface="Cambria Math"/>
                <a:ea typeface="宋体"/>
              </a:rPr>
              <a:t>β̄</a:t>
            </a:r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68112" y="4581144"/>
            <a:ext cx="54864" cy="14630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680" b="0" i="0">
                <a:solidFill>
                  <a:srgbClr val="777777"/>
                </a:solidFill>
                <a:latin typeface="Times New Roman"/>
                <a:ea typeface="宋体"/>
              </a:rPr>
              <a:t>式(4-5)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26480" y="4069080"/>
            <a:ext cx="1828800" cy="685800"/>
          </a:xfrm>
          <a:prstGeom prst="roundRect">
            <a:avLst>
              <a:gd name="adj" fmla="val 10666"/>
            </a:avLst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1" i="0">
                <a:solidFill>
                  <a:srgbClr val="1A1A1A"/>
                </a:solidFill>
                <a:latin typeface="Times New Roman"/>
                <a:ea typeface="宋体"/>
              </a:rPr>
              <a:t>基座命令规划与试探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协商+微激励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45551" y="4581144"/>
            <a:ext cx="54864" cy="14630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680" b="0" i="0">
                <a:solidFill>
                  <a:srgbClr val="777777"/>
                </a:solidFill>
                <a:latin typeface="Times New Roman"/>
                <a:ea typeface="宋体"/>
              </a:rPr>
              <a:t>式(4-6)(4-7)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440" y="3118103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F5F5F5"/>
          </a:solidFill>
          <a:ln w="1524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1" i="0">
                <a:solidFill>
                  <a:srgbClr val="1A1A1A"/>
                </a:solidFill>
                <a:latin typeface="Times New Roman"/>
                <a:ea typeface="宋体"/>
              </a:rPr>
              <a:t>任务参考</a:t>
            </a:r>
          </a:p>
          <a:p>
            <a:pPr algn="ctr"/>
            <a:r>
              <a:rPr sz="800" b="0" i="1">
                <a:solidFill>
                  <a:srgbClr val="333333"/>
                </a:solidFill>
                <a:latin typeface="Times New Roman"/>
                <a:ea typeface="宋体"/>
              </a:rPr>
              <a:t>r</a:t>
            </a:r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(</a:t>
            </a:r>
            <a:r>
              <a:rPr sz="800" b="0" i="1">
                <a:solidFill>
                  <a:srgbClr val="333333"/>
                </a:solidFill>
                <a:latin typeface="Times New Roman"/>
                <a:ea typeface="宋体"/>
              </a:rPr>
              <a:t>t</a:t>
            </a:r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852160" y="5532120"/>
            <a:ext cx="2468880" cy="1051560"/>
          </a:xfrm>
          <a:prstGeom prst="roundRect">
            <a:avLst>
              <a:gd name="adj" fmla="val 6956"/>
            </a:avLst>
          </a:prstGeom>
          <a:solidFill>
            <a:srgbClr val="F8CECC"/>
          </a:solidFill>
          <a:ln w="15240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1" i="0">
                <a:solidFill>
                  <a:srgbClr val="1A1A1A"/>
                </a:solidFill>
                <a:latin typeface="Times New Roman"/>
                <a:ea typeface="宋体"/>
              </a:rPr>
              <a:t>7-DOF 机械臂 + 执行链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速度前馈+位置反馈积分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61120" y="5532120"/>
            <a:ext cx="2103120" cy="1051560"/>
          </a:xfrm>
          <a:prstGeom prst="roundRect">
            <a:avLst>
              <a:gd name="adj" fmla="val 6956"/>
            </a:avLst>
          </a:prstGeom>
          <a:solidFill>
            <a:srgbClr val="F8CECC"/>
          </a:solidFill>
          <a:ln w="15240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50" b="1" i="0">
                <a:solidFill>
                  <a:srgbClr val="1A1A1A"/>
                </a:solidFill>
                <a:latin typeface="Times New Roman"/>
                <a:ea typeface="宋体"/>
              </a:rPr>
              <a:t>无人机基座（飞控闭环）</a:t>
            </a:r>
          </a:p>
          <a:p>
            <a:pPr algn="ctr"/>
            <a:r>
              <a:rPr sz="800" b="0" i="1">
                <a:solidFill>
                  <a:srgbClr val="333333"/>
                </a:solidFill>
                <a:latin typeface="Times New Roman"/>
                <a:ea typeface="宋体"/>
              </a:rPr>
              <a:t>ξ</a:t>
            </a:r>
            <a:r>
              <a:rPr sz="624" b="0" i="1" baseline="-25000">
                <a:solidFill>
                  <a:srgbClr val="333333"/>
                </a:solidFill>
                <a:latin typeface="Times New Roman"/>
                <a:ea typeface="宋体"/>
              </a:rPr>
              <a:t>b</a:t>
            </a:r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=</a:t>
            </a:r>
            <a:r>
              <a:rPr sz="800" b="0" i="1">
                <a:solidFill>
                  <a:srgbClr val="333333"/>
                </a:solidFill>
                <a:latin typeface="Times New Roman"/>
                <a:ea typeface="宋体"/>
              </a:rPr>
              <a:t>G</a:t>
            </a:r>
            <a:r>
              <a:rPr sz="624" b="0" i="0" baseline="-25000">
                <a:solidFill>
                  <a:srgbClr val="333333"/>
                </a:solidFill>
                <a:latin typeface="Times New Roman"/>
                <a:ea typeface="宋体"/>
              </a:rPr>
              <a:t>cl</a:t>
            </a:r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[</a:t>
            </a:r>
            <a:r>
              <a:rPr sz="800" b="0" i="1">
                <a:solidFill>
                  <a:srgbClr val="333333"/>
                </a:solidFill>
                <a:latin typeface="Times New Roman"/>
                <a:ea typeface="宋体"/>
              </a:rPr>
              <a:t>ξ</a:t>
            </a:r>
            <a:r>
              <a:rPr sz="624" b="0" i="1" baseline="-25000">
                <a:solidFill>
                  <a:srgbClr val="333333"/>
                </a:solidFill>
                <a:latin typeface="Times New Roman"/>
                <a:ea typeface="宋体"/>
              </a:rPr>
              <a:t>b</a:t>
            </a:r>
            <a:r>
              <a:rPr sz="624" b="0" i="1" baseline="30000">
                <a:solidFill>
                  <a:srgbClr val="333333"/>
                </a:solidFill>
                <a:latin typeface="Times New Roman"/>
                <a:ea typeface="宋体"/>
              </a:rPr>
              <a:t>*</a:t>
            </a:r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]+</a:t>
            </a:r>
            <a:r>
              <a:rPr sz="800" b="0" i="1">
                <a:solidFill>
                  <a:srgbClr val="333333"/>
                </a:solidFill>
                <a:latin typeface="Times New Roman"/>
                <a:ea typeface="宋体"/>
              </a:rPr>
              <a:t>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54512" y="6409944"/>
            <a:ext cx="54864" cy="14630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680" b="0" i="0">
                <a:solidFill>
                  <a:srgbClr val="777777"/>
                </a:solidFill>
                <a:latin typeface="Times New Roman"/>
                <a:ea typeface="宋体"/>
              </a:rPr>
              <a:t>式(2-2)</a:t>
            </a:r>
          </a:p>
        </p:txBody>
      </p:sp>
      <p:sp>
        <p:nvSpPr>
          <p:cNvPr id="60" name="Can 59"/>
          <p:cNvSpPr/>
          <p:nvPr/>
        </p:nvSpPr>
        <p:spPr>
          <a:xfrm>
            <a:off x="8915400" y="1307591"/>
            <a:ext cx="777240" cy="768096"/>
          </a:xfrm>
          <a:prstGeom prst="can">
            <a:avLst>
              <a:gd name="adj" fmla="val 28000"/>
            </a:avLst>
          </a:prstGeom>
          <a:solidFill>
            <a:srgbClr val="FFFFFF"/>
          </a:solidFill>
          <a:ln w="13970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滑窗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Times New Roman"/>
                <a:ea typeface="宋体"/>
              </a:rPr>
              <a:t>校准集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13048" y="1444751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60" b="0" i="1">
                <a:solidFill>
                  <a:srgbClr val="212121"/>
                </a:solidFill>
                <a:latin typeface="Times New Roman"/>
                <a:ea typeface="宋体"/>
              </a:rPr>
              <a:t>μ</a:t>
            </a:r>
            <a:r>
              <a:rPr sz="670" b="0" i="1" baseline="-25000">
                <a:solidFill>
                  <a:srgbClr val="212121"/>
                </a:solidFill>
                <a:latin typeface="Times New Roman"/>
                <a:ea typeface="宋体"/>
              </a:rPr>
              <a:t>ψ</a:t>
            </a:r>
            <a:r>
              <a:rPr sz="860" b="0" i="0">
                <a:solidFill>
                  <a:srgbClr val="212121"/>
                </a:solidFill>
                <a:latin typeface="Times New Roman"/>
                <a:ea typeface="宋体"/>
              </a:rPr>
              <a:t>, </a:t>
            </a:r>
            <a:r>
              <a:rPr sz="860" b="0" i="1">
                <a:solidFill>
                  <a:srgbClr val="212121"/>
                </a:solidFill>
                <a:latin typeface="Times New Roman"/>
                <a:ea typeface="宋体"/>
              </a:rPr>
              <a:t>Σ</a:t>
            </a:r>
            <a:r>
              <a:rPr sz="670" b="0" i="1" baseline="-25000">
                <a:solidFill>
                  <a:srgbClr val="212121"/>
                </a:solidFill>
                <a:latin typeface="Times New Roman"/>
                <a:ea typeface="宋体"/>
              </a:rPr>
              <a:t>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90488" y="1444751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60" b="0" i="1">
                <a:solidFill>
                  <a:srgbClr val="212121"/>
                </a:solidFill>
                <a:latin typeface="Times New Roman"/>
                <a:ea typeface="宋体"/>
              </a:rPr>
              <a:t>b</a:t>
            </a:r>
            <a:r>
              <a:rPr sz="860" b="0" i="0">
                <a:solidFill>
                  <a:srgbClr val="212121"/>
                </a:solidFill>
                <a:latin typeface="Times New Roman"/>
                <a:ea typeface="宋体"/>
              </a:rPr>
              <a:t>(</a:t>
            </a:r>
            <a:r>
              <a:rPr sz="860" b="0" i="1">
                <a:solidFill>
                  <a:srgbClr val="212121"/>
                </a:solidFill>
                <a:latin typeface="Times New Roman"/>
                <a:ea typeface="宋体"/>
              </a:rPr>
              <a:t>β</a:t>
            </a:r>
            <a:r>
              <a:rPr sz="860" b="0" i="0">
                <a:solidFill>
                  <a:srgbClr val="212121"/>
                </a:solidFill>
                <a:latin typeface="Times New Roman"/>
                <a:ea typeface="宋体"/>
              </a:rPr>
              <a:t>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62288" y="612647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80" b="0" i="0">
                <a:solidFill>
                  <a:srgbClr val="212121"/>
                </a:solidFill>
                <a:latin typeface="Times New Roman"/>
                <a:ea typeface="宋体"/>
              </a:rPr>
              <a:t>实现误差 </a:t>
            </a:r>
            <a:r>
              <a:rPr sz="880" b="0" i="1">
                <a:solidFill>
                  <a:srgbClr val="212121"/>
                </a:solidFill>
                <a:latin typeface="Times New Roman"/>
                <a:ea typeface="宋体"/>
              </a:rPr>
              <a:t>δ</a:t>
            </a:r>
            <a:r>
              <a:rPr sz="880" b="0" i="0">
                <a:solidFill>
                  <a:srgbClr val="212121"/>
                </a:solidFill>
                <a:latin typeface="Times New Roman"/>
                <a:ea typeface="宋体"/>
              </a:rPr>
              <a:t>=</a:t>
            </a:r>
            <a:r>
              <a:rPr sz="880" b="0" i="1">
                <a:solidFill>
                  <a:srgbClr val="212121"/>
                </a:solidFill>
                <a:latin typeface="Times New Roman"/>
                <a:ea typeface="宋体"/>
              </a:rPr>
              <a:t>ξ</a:t>
            </a:r>
            <a:r>
              <a:rPr sz="686" b="0" i="1" baseline="-25000">
                <a:solidFill>
                  <a:srgbClr val="212121"/>
                </a:solidFill>
                <a:latin typeface="Times New Roman"/>
                <a:ea typeface="宋体"/>
              </a:rPr>
              <a:t>b</a:t>
            </a:r>
            <a:r>
              <a:rPr sz="880" b="0" i="0">
                <a:solidFill>
                  <a:srgbClr val="212121"/>
                </a:solidFill>
                <a:latin typeface="Cambria Math"/>
                <a:ea typeface="宋体"/>
              </a:rPr>
              <a:t>⊖</a:t>
            </a:r>
            <a:r>
              <a:rPr sz="880" b="0" i="1">
                <a:solidFill>
                  <a:srgbClr val="212121"/>
                </a:solidFill>
                <a:latin typeface="Times New Roman"/>
                <a:ea typeface="宋体"/>
              </a:rPr>
              <a:t>ξ</a:t>
            </a:r>
            <a:r>
              <a:rPr sz="686" b="0" i="1" baseline="-25000">
                <a:solidFill>
                  <a:srgbClr val="212121"/>
                </a:solidFill>
                <a:latin typeface="Times New Roman"/>
                <a:ea typeface="宋体"/>
              </a:rPr>
              <a:t>b</a:t>
            </a:r>
            <a:r>
              <a:rPr sz="686" b="0" i="1" baseline="30000">
                <a:solidFill>
                  <a:srgbClr val="212121"/>
                </a:solidFill>
                <a:latin typeface="Times New Roman"/>
                <a:ea typeface="宋体"/>
              </a:rPr>
              <a:t>*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62288" y="923544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680" b="0" i="0">
                <a:solidFill>
                  <a:srgbClr val="777777"/>
                </a:solidFill>
                <a:latin typeface="Times New Roman"/>
                <a:ea typeface="宋体"/>
              </a:rPr>
              <a:t>式(2-3)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24728" y="3172968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19" b="0" i="1">
                <a:solidFill>
                  <a:srgbClr val="212121"/>
                </a:solidFill>
                <a:latin typeface="Times New Roman"/>
                <a:ea typeface="宋体"/>
              </a:rPr>
              <a:t>q</a:t>
            </a:r>
            <a:r>
              <a:rPr sz="639" b="0" i="1" baseline="-25000">
                <a:solidFill>
                  <a:srgbClr val="212121"/>
                </a:solidFill>
                <a:latin typeface="Times New Roman"/>
                <a:ea typeface="宋体"/>
              </a:rPr>
              <a:t>k+1</a:t>
            </a:r>
            <a:r>
              <a:rPr sz="819" b="0" i="0">
                <a:solidFill>
                  <a:srgbClr val="212121"/>
                </a:solidFill>
                <a:latin typeface="Times New Roman"/>
                <a:ea typeface="宋体"/>
              </a:rPr>
              <a:t>, </a:t>
            </a:r>
            <a:r>
              <a:rPr sz="819" b="0" i="1">
                <a:solidFill>
                  <a:srgbClr val="212121"/>
                </a:solidFill>
                <a:latin typeface="Cambria Math"/>
                <a:ea typeface="宋体"/>
              </a:rPr>
              <a:t>q̇</a:t>
            </a:r>
            <a:r>
              <a:rPr sz="639" b="0" i="1" baseline="-25000">
                <a:solidFill>
                  <a:srgbClr val="212121"/>
                </a:solidFill>
                <a:latin typeface="Times New Roman"/>
                <a:ea typeface="宋体"/>
              </a:rPr>
              <a:t>k+1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13648" y="5696712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50" b="0" i="0">
                <a:solidFill>
                  <a:srgbClr val="888888"/>
                </a:solidFill>
                <a:latin typeface="Times New Roman"/>
                <a:ea typeface="宋体"/>
              </a:rPr>
              <a:t>刚性联结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6867144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60" b="0" i="0">
                <a:solidFill>
                  <a:srgbClr val="212121"/>
                </a:solidFill>
                <a:latin typeface="Times New Roman"/>
                <a:ea typeface="宋体"/>
              </a:rPr>
              <a:t>末端世界位姿 </a:t>
            </a:r>
            <a:r>
              <a:rPr sz="860" b="0" i="1">
                <a:solidFill>
                  <a:srgbClr val="212121"/>
                </a:solidFill>
                <a:latin typeface="Times New Roman"/>
                <a:ea typeface="宋体"/>
              </a:rPr>
              <a:t>p</a:t>
            </a:r>
            <a:r>
              <a:rPr sz="670" b="0" i="1" baseline="-25000">
                <a:solidFill>
                  <a:srgbClr val="212121"/>
                </a:solidFill>
                <a:latin typeface="Times New Roman"/>
                <a:ea typeface="宋体"/>
              </a:rPr>
              <a:t>E</a:t>
            </a:r>
            <a:r>
              <a:rPr sz="860" b="0" i="0">
                <a:solidFill>
                  <a:srgbClr val="212121"/>
                </a:solidFill>
                <a:latin typeface="Times New Roman"/>
                <a:ea typeface="宋体"/>
              </a:rPr>
              <a:t>（毫米级任务输出）</a:t>
            </a:r>
          </a:p>
        </p:txBody>
      </p:sp>
      <p:sp>
        <p:nvSpPr>
          <p:cNvPr id="68" name="TextBox 67"/>
          <p:cNvSpPr txBox="1"/>
          <p:nvPr/>
        </p:nvSpPr>
        <p:spPr>
          <a:xfrm rot="16200000">
            <a:off x="5705855" y="4261104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0" b="0" i="0">
                <a:solidFill>
                  <a:srgbClr val="212121"/>
                </a:solidFill>
                <a:latin typeface="Times New Roman"/>
                <a:ea typeface="宋体"/>
              </a:rPr>
              <a:t>关节命令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76488" y="4800600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60" b="0" i="0">
                <a:solidFill>
                  <a:srgbClr val="212121"/>
                </a:solidFill>
                <a:latin typeface="Times New Roman"/>
                <a:ea typeface="宋体"/>
              </a:rPr>
              <a:t>基座命令 </a:t>
            </a:r>
            <a:r>
              <a:rPr sz="860" b="0" i="1">
                <a:solidFill>
                  <a:srgbClr val="212121"/>
                </a:solidFill>
                <a:latin typeface="Times New Roman"/>
                <a:ea typeface="宋体"/>
              </a:rPr>
              <a:t>ξ</a:t>
            </a:r>
            <a:r>
              <a:rPr sz="670" b="0" i="1" baseline="-25000">
                <a:solidFill>
                  <a:srgbClr val="212121"/>
                </a:solidFill>
                <a:latin typeface="Times New Roman"/>
                <a:ea typeface="宋体"/>
              </a:rPr>
              <a:t>b</a:t>
            </a:r>
            <a:r>
              <a:rPr sz="670" b="0" i="1" baseline="30000">
                <a:solidFill>
                  <a:srgbClr val="212121"/>
                </a:solidFill>
                <a:latin typeface="Times New Roman"/>
                <a:ea typeface="宋体"/>
              </a:rPr>
              <a:t>*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55848" y="6053328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60" b="0" i="0">
                <a:solidFill>
                  <a:srgbClr val="212121"/>
                </a:solidFill>
                <a:latin typeface="Times New Roman"/>
                <a:ea typeface="宋体"/>
              </a:rPr>
              <a:t>关节测量 </a:t>
            </a:r>
            <a:r>
              <a:rPr sz="860" b="0" i="1">
                <a:solidFill>
                  <a:srgbClr val="212121"/>
                </a:solidFill>
                <a:latin typeface="Times New Roman"/>
                <a:ea typeface="宋体"/>
              </a:rPr>
              <a:t>q</a:t>
            </a:r>
            <a:r>
              <a:rPr sz="860" b="0" i="0">
                <a:solidFill>
                  <a:srgbClr val="212121"/>
                </a:solidFill>
                <a:latin typeface="Times New Roman"/>
                <a:ea typeface="宋体"/>
              </a:rPr>
              <a:t>, </a:t>
            </a:r>
            <a:r>
              <a:rPr sz="860" b="0" i="1">
                <a:solidFill>
                  <a:srgbClr val="212121"/>
                </a:solidFill>
                <a:latin typeface="Cambria Math"/>
                <a:ea typeface="宋体"/>
              </a:rPr>
              <a:t>q̇</a:t>
            </a:r>
          </a:p>
        </p:txBody>
      </p:sp>
      <p:sp>
        <p:nvSpPr>
          <p:cNvPr id="71" name="TextBox 70"/>
          <p:cNvSpPr txBox="1"/>
          <p:nvPr/>
        </p:nvSpPr>
        <p:spPr>
          <a:xfrm rot="16200000">
            <a:off x="11932920" y="3483864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60" b="0" i="0">
                <a:solidFill>
                  <a:srgbClr val="212121"/>
                </a:solidFill>
                <a:latin typeface="Times New Roman"/>
                <a:ea typeface="宋体"/>
              </a:rPr>
              <a:t>基座位姿测量 </a:t>
            </a:r>
            <a:r>
              <a:rPr sz="860" b="0" i="1">
                <a:solidFill>
                  <a:srgbClr val="212121"/>
                </a:solidFill>
                <a:latin typeface="Times New Roman"/>
                <a:ea typeface="宋体"/>
              </a:rPr>
              <a:t>ξ</a:t>
            </a:r>
            <a:r>
              <a:rPr sz="670" b="0" i="1" baseline="-25000">
                <a:solidFill>
                  <a:srgbClr val="212121"/>
                </a:solidFill>
                <a:latin typeface="Times New Roman"/>
                <a:ea typeface="宋体"/>
              </a:rPr>
              <a:t>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76088" y="2167127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80" b="0" i="0">
                <a:solidFill>
                  <a:srgbClr val="9673A6"/>
                </a:solidFill>
                <a:latin typeface="Times New Roman"/>
                <a:ea typeface="宋体"/>
              </a:rPr>
              <a:t>信任状态 (</a:t>
            </a:r>
            <a:r>
              <a:rPr sz="880" b="0" i="1">
                <a:solidFill>
                  <a:srgbClr val="9673A6"/>
                </a:solidFill>
                <a:latin typeface="Times New Roman"/>
                <a:ea typeface="宋体"/>
              </a:rPr>
              <a:t>μ</a:t>
            </a:r>
            <a:r>
              <a:rPr sz="686" b="0" i="1" baseline="-25000">
                <a:solidFill>
                  <a:srgbClr val="9673A6"/>
                </a:solidFill>
                <a:latin typeface="Times New Roman"/>
                <a:ea typeface="宋体"/>
              </a:rPr>
              <a:t>ψ</a:t>
            </a:r>
            <a:r>
              <a:rPr sz="880" b="0" i="0">
                <a:solidFill>
                  <a:srgbClr val="9673A6"/>
                </a:solidFill>
                <a:latin typeface="Times New Roman"/>
                <a:ea typeface="宋体"/>
              </a:rPr>
              <a:t>, </a:t>
            </a:r>
            <a:r>
              <a:rPr sz="880" b="0" i="1">
                <a:solidFill>
                  <a:srgbClr val="9673A6"/>
                </a:solidFill>
                <a:latin typeface="Times New Roman"/>
                <a:ea typeface="宋体"/>
              </a:rPr>
              <a:t>Σ</a:t>
            </a:r>
            <a:r>
              <a:rPr sz="686" b="0" i="1" baseline="-25000">
                <a:solidFill>
                  <a:srgbClr val="9673A6"/>
                </a:solidFill>
                <a:latin typeface="Times New Roman"/>
                <a:ea typeface="宋体"/>
              </a:rPr>
              <a:t>ψ</a:t>
            </a:r>
            <a:r>
              <a:rPr sz="880" b="0" i="0">
                <a:solidFill>
                  <a:srgbClr val="9673A6"/>
                </a:solidFill>
                <a:latin typeface="Times New Roman"/>
                <a:ea typeface="宋体"/>
              </a:rPr>
              <a:t>, </a:t>
            </a:r>
            <a:r>
              <a:rPr sz="880" b="0" i="1">
                <a:solidFill>
                  <a:srgbClr val="9673A6"/>
                </a:solidFill>
                <a:latin typeface="Times New Roman"/>
                <a:ea typeface="宋体"/>
              </a:rPr>
              <a:t>b</a:t>
            </a:r>
            <a:r>
              <a:rPr sz="880" b="0" i="0">
                <a:solidFill>
                  <a:srgbClr val="9673A6"/>
                </a:solidFill>
                <a:latin typeface="Times New Roman"/>
                <a:ea typeface="宋体"/>
              </a:rPr>
              <a:t>(</a:t>
            </a:r>
            <a:r>
              <a:rPr sz="880" b="0" i="1">
                <a:solidFill>
                  <a:srgbClr val="9673A6"/>
                </a:solidFill>
                <a:latin typeface="Times New Roman"/>
                <a:ea typeface="宋体"/>
              </a:rPr>
              <a:t>β</a:t>
            </a:r>
            <a:r>
              <a:rPr sz="880" b="0" i="0">
                <a:solidFill>
                  <a:srgbClr val="9673A6"/>
                </a:solidFill>
                <a:latin typeface="Times New Roman"/>
                <a:ea typeface="宋体"/>
              </a:rPr>
              <a:t>), </a:t>
            </a:r>
            <a:r>
              <a:rPr sz="880" b="0" i="1">
                <a:solidFill>
                  <a:srgbClr val="9673A6"/>
                </a:solidFill>
                <a:latin typeface="Cambria Math"/>
                <a:ea typeface="宋体"/>
              </a:rPr>
              <a:t>Δ̂</a:t>
            </a:r>
            <a:r>
              <a:rPr sz="686" b="0" i="1" baseline="-25000">
                <a:solidFill>
                  <a:srgbClr val="9673A6"/>
                </a:solidFill>
                <a:latin typeface="Times New Roman"/>
                <a:ea typeface="宋体"/>
              </a:rPr>
              <a:t>τ</a:t>
            </a:r>
            <a:r>
              <a:rPr sz="880" b="0" i="0">
                <a:solidFill>
                  <a:srgbClr val="9673A6"/>
                </a:solidFill>
                <a:latin typeface="Times New Roman"/>
                <a:ea typeface="宋体"/>
              </a:rPr>
              <a:t>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16352" y="2816351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700" b="0" i="1">
                <a:solidFill>
                  <a:srgbClr val="9673A6"/>
                </a:solidFill>
                <a:latin typeface="Times New Roman"/>
                <a:ea typeface="宋体"/>
              </a:rPr>
              <a:t>μ</a:t>
            </a:r>
            <a:r>
              <a:rPr sz="546" b="0" i="1" baseline="-25000">
                <a:solidFill>
                  <a:srgbClr val="9673A6"/>
                </a:solidFill>
                <a:latin typeface="Times New Roman"/>
                <a:ea typeface="宋体"/>
              </a:rPr>
              <a:t>ψ</a:t>
            </a:r>
            <a:r>
              <a:rPr sz="700" b="0" i="0">
                <a:solidFill>
                  <a:srgbClr val="9673A6"/>
                </a:solidFill>
                <a:latin typeface="Times New Roman"/>
                <a:ea typeface="宋体"/>
              </a:rPr>
              <a:t>, </a:t>
            </a:r>
            <a:r>
              <a:rPr sz="700" b="0" i="1">
                <a:solidFill>
                  <a:srgbClr val="9673A6"/>
                </a:solidFill>
                <a:latin typeface="Cambria Math"/>
                <a:ea typeface="宋体"/>
              </a:rPr>
              <a:t>Δ̂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39312" y="2816351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760" b="0" i="1">
                <a:solidFill>
                  <a:srgbClr val="9673A6"/>
                </a:solidFill>
                <a:latin typeface="Cambria Math"/>
                <a:ea typeface="宋体"/>
              </a:rPr>
              <a:t>β̄</a:t>
            </a:r>
          </a:p>
        </p:txBody>
      </p:sp>
      <p:sp>
        <p:nvSpPr>
          <p:cNvPr id="75" name="TextBox 74"/>
          <p:cNvSpPr txBox="1"/>
          <p:nvPr/>
        </p:nvSpPr>
        <p:spPr>
          <a:xfrm rot="16200000">
            <a:off x="8257032" y="3255264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0" b="0" i="1">
                <a:solidFill>
                  <a:srgbClr val="9673A6"/>
                </a:solidFill>
                <a:latin typeface="Times New Roman"/>
                <a:ea typeface="宋体"/>
              </a:rPr>
              <a:t>Σ</a:t>
            </a:r>
            <a:r>
              <a:rPr sz="608" b="0" i="1" baseline="-25000">
                <a:solidFill>
                  <a:srgbClr val="9673A6"/>
                </a:solidFill>
                <a:latin typeface="Times New Roman"/>
                <a:ea typeface="宋体"/>
              </a:rPr>
              <a:t>ψ</a:t>
            </a:r>
            <a:r>
              <a:rPr sz="780" b="0" i="0">
                <a:solidFill>
                  <a:srgbClr val="9673A6"/>
                </a:solidFill>
                <a:latin typeface="Times New Roman"/>
                <a:ea typeface="宋体"/>
              </a:rPr>
              <a:t>（试探价值）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29384" y="3813048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19" b="0" i="1">
                <a:solidFill>
                  <a:srgbClr val="9673A6"/>
                </a:solidFill>
                <a:latin typeface="Times New Roman"/>
                <a:ea typeface="宋体"/>
              </a:rPr>
              <a:t>σ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0055" y="3813048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819" b="0" i="1">
                <a:solidFill>
                  <a:srgbClr val="9673A6"/>
                </a:solidFill>
                <a:latin typeface="Times New Roman"/>
                <a:ea typeface="宋体"/>
              </a:rPr>
              <a:t>q</a:t>
            </a:r>
            <a:r>
              <a:rPr sz="639" b="0" i="0" baseline="-25000">
                <a:solidFill>
                  <a:srgbClr val="9673A6"/>
                </a:solidFill>
                <a:latin typeface="Times New Roman"/>
                <a:ea typeface="宋体"/>
              </a:rPr>
              <a:t>ref</a:t>
            </a:r>
          </a:p>
        </p:txBody>
      </p:sp>
      <p:sp>
        <p:nvSpPr>
          <p:cNvPr id="78" name="Freeform 77"/>
          <p:cNvSpPr/>
          <p:nvPr/>
        </p:nvSpPr>
        <p:spPr>
          <a:xfrm>
            <a:off x="1417320" y="6684264"/>
            <a:ext cx="502920" cy="0"/>
          </a:xfrm>
          <a:custGeom>
            <a:avLst/>
            <a:gdLst/>
            <a:ahLst/>
            <a:cxnLst/>
            <a:rect l="l" t="t" r="r" b="b"/>
            <a:pathLst>
              <a:path w="502920" h="0">
                <a:moveTo>
                  <a:pt x="0" y="0"/>
                </a:moveTo>
                <a:lnTo>
                  <a:pt x="502920" y="0"/>
                </a:lnTo>
              </a:path>
            </a:pathLst>
          </a:custGeom>
          <a:noFill/>
          <a:ln w="203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29968" y="6556248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000000"/>
                </a:solidFill>
                <a:latin typeface="Times New Roman"/>
                <a:ea typeface="宋体"/>
              </a:rPr>
              <a:t>实时信号（50 Hz）</a:t>
            </a:r>
          </a:p>
        </p:txBody>
      </p:sp>
      <p:sp>
        <p:nvSpPr>
          <p:cNvPr id="80" name="Freeform 79"/>
          <p:cNvSpPr/>
          <p:nvPr/>
        </p:nvSpPr>
        <p:spPr>
          <a:xfrm>
            <a:off x="3703320" y="6684264"/>
            <a:ext cx="502920" cy="0"/>
          </a:xfrm>
          <a:custGeom>
            <a:avLst/>
            <a:gdLst/>
            <a:ahLst/>
            <a:cxnLst/>
            <a:rect l="l" t="t" r="r" b="b"/>
            <a:pathLst>
              <a:path w="502920" h="0">
                <a:moveTo>
                  <a:pt x="0" y="0"/>
                </a:moveTo>
                <a:lnTo>
                  <a:pt x="502920" y="0"/>
                </a:lnTo>
              </a:path>
            </a:pathLst>
          </a:custGeom>
          <a:noFill/>
          <a:ln w="17780">
            <a:solidFill>
              <a:srgbClr val="9673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15968" y="6556248"/>
            <a:ext cx="54864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800" b="0" i="0">
                <a:solidFill>
                  <a:srgbClr val="000000"/>
                </a:solidFill>
                <a:latin typeface="Times New Roman"/>
                <a:ea typeface="宋体"/>
              </a:rPr>
              <a:t>慢时标信任/调度量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